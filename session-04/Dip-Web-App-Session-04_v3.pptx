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86" r:id="rId2"/>
    <p:sldMasterId id="2147483698" r:id="rId3"/>
    <p:sldMasterId id="2147483710" r:id="rId4"/>
    <p:sldMasterId id="2147483722" r:id="rId5"/>
    <p:sldMasterId id="2147483734" r:id="rId6"/>
    <p:sldMasterId id="2147483746" r:id="rId7"/>
    <p:sldMasterId id="2147483758" r:id="rId8"/>
    <p:sldMasterId id="2147483770" r:id="rId9"/>
    <p:sldMasterId id="2147483806" r:id="rId10"/>
    <p:sldMasterId id="2147483818" r:id="rId11"/>
    <p:sldMasterId id="2147483829" r:id="rId12"/>
    <p:sldMasterId id="2147483840" r:id="rId13"/>
    <p:sldMasterId id="2147483851" r:id="rId14"/>
  </p:sldMasterIdLst>
  <p:notesMasterIdLst>
    <p:notesMasterId r:id="rId45"/>
  </p:notesMasterIdLst>
  <p:sldIdLst>
    <p:sldId id="270" r:id="rId15"/>
    <p:sldId id="426" r:id="rId16"/>
    <p:sldId id="571" r:id="rId17"/>
    <p:sldId id="649" r:id="rId18"/>
    <p:sldId id="590" r:id="rId19"/>
    <p:sldId id="651" r:id="rId20"/>
    <p:sldId id="650" r:id="rId21"/>
    <p:sldId id="652" r:id="rId22"/>
    <p:sldId id="653" r:id="rId23"/>
    <p:sldId id="658" r:id="rId24"/>
    <p:sldId id="660" r:id="rId25"/>
    <p:sldId id="654" r:id="rId26"/>
    <p:sldId id="592" r:id="rId27"/>
    <p:sldId id="655" r:id="rId28"/>
    <p:sldId id="623" r:id="rId29"/>
    <p:sldId id="659" r:id="rId30"/>
    <p:sldId id="656" r:id="rId31"/>
    <p:sldId id="657" r:id="rId32"/>
    <p:sldId id="668" r:id="rId33"/>
    <p:sldId id="661" r:id="rId34"/>
    <p:sldId id="622" r:id="rId35"/>
    <p:sldId id="667" r:id="rId36"/>
    <p:sldId id="662" r:id="rId37"/>
    <p:sldId id="644" r:id="rId38"/>
    <p:sldId id="645" r:id="rId39"/>
    <p:sldId id="663" r:id="rId40"/>
    <p:sldId id="664" r:id="rId41"/>
    <p:sldId id="665" r:id="rId42"/>
    <p:sldId id="666" r:id="rId43"/>
    <p:sldId id="62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80D8219-AFFB-4CCA-9E29-F006A0EBF923}">
          <p14:sldIdLst/>
        </p14:section>
        <p14:section name="Sessions" id="{A03E0263-4B7D-44B5-8003-4476F3FEBD5F}">
          <p14:sldIdLst>
            <p14:sldId id="270"/>
            <p14:sldId id="426"/>
            <p14:sldId id="571"/>
            <p14:sldId id="649"/>
            <p14:sldId id="590"/>
            <p14:sldId id="651"/>
            <p14:sldId id="650"/>
            <p14:sldId id="652"/>
            <p14:sldId id="653"/>
            <p14:sldId id="658"/>
            <p14:sldId id="660"/>
            <p14:sldId id="654"/>
            <p14:sldId id="592"/>
            <p14:sldId id="655"/>
            <p14:sldId id="623"/>
            <p14:sldId id="659"/>
            <p14:sldId id="656"/>
            <p14:sldId id="657"/>
            <p14:sldId id="668"/>
            <p14:sldId id="661"/>
            <p14:sldId id="622"/>
            <p14:sldId id="667"/>
            <p14:sldId id="662"/>
            <p14:sldId id="644"/>
            <p14:sldId id="645"/>
            <p14:sldId id="663"/>
            <p14:sldId id="664"/>
            <p14:sldId id="665"/>
            <p14:sldId id="666"/>
          </p14:sldIdLst>
        </p14:section>
        <p14:section name="Async Await" id="{040DF273-069F-49DD-ADEF-A489082EE127}">
          <p14:sldIdLst>
            <p14:sldId id="6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7EC60-1468-68AC-AE52-B5BDCA27F690}" v="3" dt="2023-08-16T03:53:02.907"/>
    <p1510:client id="{3EC238F0-8F1C-6F45-0676-76A24AEE45F3}" v="2" dt="2023-11-15T01:20:3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1"/>
    <p:restoredTop sz="79620" autoAdjust="0"/>
  </p:normalViewPr>
  <p:slideViewPr>
    <p:cSldViewPr snapToGrid="0">
      <p:cViewPr varScale="1">
        <p:scale>
          <a:sx n="88" d="100"/>
          <a:sy n="88" d="100"/>
        </p:scale>
        <p:origin x="15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microsoft.com/office/2018/10/relationships/authors" Target="author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presProps" Target="presProps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697ED-AC6D-694A-B4F5-8003E946CD65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D1F34-00E6-0546-8BB3-36357F9D2F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797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AU" sz="1000" b="1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Scheme</a:t>
            </a:r>
            <a:r>
              <a:rPr lang="en-AU" sz="1000" b="0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https — This indicates the protocol used to access the resource.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AU" sz="1000" b="1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Host</a:t>
            </a:r>
            <a:r>
              <a:rPr lang="en-AU" sz="1000" b="0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api.nasa.gov — This is the domain name of the server hosting the resource.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AU" sz="1000" b="1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  <a:r>
              <a:rPr lang="en-AU" sz="1000" b="0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/planetary/</a:t>
            </a:r>
            <a:r>
              <a:rPr lang="en-AU" sz="1000" b="0" i="0" dirty="0" err="1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apod</a:t>
            </a:r>
            <a:r>
              <a:rPr lang="en-AU" sz="1000" b="0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This specifies the location of the resource on the server.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AU" sz="1000" b="1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en-AU" sz="1000" b="0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AU" sz="1000" b="0" i="0" dirty="0" err="1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api_key</a:t>
            </a:r>
            <a:r>
              <a:rPr lang="en-AU" sz="1000" b="0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=API_KEY — This is the query string used to pass parameters to the server.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AU" sz="1000" b="1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Fragment</a:t>
            </a:r>
            <a:r>
              <a:rPr lang="en-AU" sz="1000" b="0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AU" sz="1000" b="0" i="1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(none present in this URL)</a:t>
            </a:r>
            <a:r>
              <a:rPr lang="en-AU" sz="1000" b="0" i="0" dirty="0">
                <a:solidFill>
                  <a:srgbClr val="D6D6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A fragment would follow a # symbol, but this URL doesn’t include one.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1F34-00E6-0546-8BB3-36357F9D2FC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5621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5737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850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5116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929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6681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31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C2EDE-F954-623E-8E0E-207D06F4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7296-21BE-6049-7692-779398527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2A823-AD3C-B4FF-6F01-9085E0D41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B8734-8D25-755A-27C4-65E02798E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3276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1273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320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326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545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D1F34-00E6-0546-8BB3-36357F9D2FC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5627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838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5070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6126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670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nasa.gov/" TargetMode="Externa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tutsplus.com/http-the-protocol-every-web-developer-must-know-part-1--net-31177t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nasa.gov/planetary/apod?api_key=API_KEY" TargetMode="External"/><Relationship Id="rId2" Type="http://schemas.openxmlformats.org/officeDocument/2006/relationships/hyperlink" Target="https://api.nasa.gov/#browseAPI" TargetMode="Externa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api.nasa.gov/planetary/apo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securityboulevard.com/2021/04/common-rest-api-authentication-methods-explained/" TargetMode="Externa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10005848" cy="1775897"/>
          </a:xfrm>
        </p:spPr>
        <p:txBody>
          <a:bodyPr anchor="b">
            <a:normAutofit fontScale="90000"/>
          </a:bodyPr>
          <a:lstStyle/>
          <a:p>
            <a:br>
              <a:rPr lang="en-AU" dirty="0"/>
            </a:br>
            <a:r>
              <a:rPr lang="en-AU" sz="5300" dirty="0"/>
              <a:t>Diploma Web Application Development: Introduction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616966" cy="1087102"/>
          </a:xfrm>
        </p:spPr>
        <p:txBody>
          <a:bodyPr>
            <a:normAutofit/>
          </a:bodyPr>
          <a:lstStyle/>
          <a:p>
            <a:r>
              <a:rPr lang="en-AU" dirty="0"/>
              <a:t>ICT50220 Diploma of Information Technology(Front-End Web Development)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740E6E62-3521-150E-78A6-322B5A2C9487}"/>
              </a:ext>
            </a:extLst>
          </p:cNvPr>
          <p:cNvGraphicFramePr>
            <a:graphicFrameLocks noGrp="1"/>
          </p:cNvGraphicFramePr>
          <p:nvPr>
            <p:ph type="tbl" sz="quarter" idx="13"/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ICTWEB517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Create web-based programs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ICTWEB546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Validate application design against specifications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502-DEA4-4E56-A1A3-DFE5B334A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695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914400" lvl="2" indent="0">
              <a:buNone/>
            </a:pPr>
            <a:endParaRPr lang="en-AU" dirty="0">
              <a:cs typeface="Calibri" panose="020F0502020204030204"/>
            </a:endParaRPr>
          </a:p>
          <a:p>
            <a:pPr marL="914400" lvl="2" indent="0">
              <a:buNone/>
            </a:pPr>
            <a:endParaRPr lang="en-AU" dirty="0">
              <a:cs typeface="Calibri" panose="020F0502020204030204"/>
            </a:endParaRPr>
          </a:p>
          <a:p>
            <a:pPr marL="914400" lvl="2" indent="0">
              <a:buNone/>
            </a:pPr>
            <a:r>
              <a:rPr lang="en-AU" sz="4800" dirty="0">
                <a:cs typeface="Calibri" panose="020F0502020204030204"/>
              </a:rPr>
              <a:t>Web Application Development &amp; HTTP</a:t>
            </a:r>
          </a:p>
          <a:p>
            <a:pPr marL="914400" lvl="2" indent="0">
              <a:buNone/>
            </a:pPr>
            <a:endParaRPr lang="en-AU" dirty="0">
              <a:cs typeface="Calibri" panose="020F0502020204030204"/>
            </a:endParaRPr>
          </a:p>
          <a:p>
            <a:pPr marL="914400" lvl="2" indent="0">
              <a:buNone/>
            </a:pPr>
            <a:r>
              <a:rPr lang="en-AU" sz="2800" i="1" dirty="0">
                <a:solidFill>
                  <a:srgbClr val="FFC000"/>
                </a:solidFill>
                <a:cs typeface="Calibri" panose="020F0502020204030204"/>
              </a:rPr>
              <a:t>Start by pulling down the latest class code from GitHub</a:t>
            </a:r>
          </a:p>
        </p:txBody>
      </p:sp>
    </p:spTree>
    <p:extLst>
      <p:ext uri="{BB962C8B-B14F-4D97-AF65-F5344CB8AC3E}">
        <p14:creationId xmlns:p14="http://schemas.microsoft.com/office/powerpoint/2010/main" val="4136621059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 1 – Set up Postman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356198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The NASA API</a:t>
            </a:r>
            <a:endParaRPr lang="en-AU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A7719D-74B9-2BC5-2E35-AC16ABC256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093079"/>
            <a:ext cx="8777788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Navigate to the NASA API Portal: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 to the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API Portal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 web browser.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 for an API Key: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on the "Get Started" or "Sign Up" button.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 in the required details (name, email, etc.).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Agree to the terms and conditions.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 the registration form.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your email for the API key and confirmation.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062837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What is HTTP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301875"/>
            <a:ext cx="10515599" cy="26511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3700" dirty="0"/>
              <a:t>HTTP (Hypertext Transfer Protocol) is the foundation of data communication on the web.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3700" dirty="0"/>
              <a:t>HTTP is a stateless protocol, meaning each request is independent.</a:t>
            </a:r>
          </a:p>
        </p:txBody>
      </p:sp>
    </p:spTree>
    <p:extLst>
      <p:ext uri="{BB962C8B-B14F-4D97-AF65-F5344CB8AC3E}">
        <p14:creationId xmlns:p14="http://schemas.microsoft.com/office/powerpoint/2010/main" val="344270076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HTTP 1 vs 2</a:t>
            </a:r>
            <a:endParaRPr lang="en-AU" dirty="0"/>
          </a:p>
        </p:txBody>
      </p:sp>
      <p:pic>
        <p:nvPicPr>
          <p:cNvPr id="4" name="Content Placeholder 3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D4F3FC46-ED89-CC0D-C841-BD58378033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8225" y="1737089"/>
            <a:ext cx="5397777" cy="385464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AAACDE-9355-C6A5-5AE4-D3C75F098623}"/>
              </a:ext>
            </a:extLst>
          </p:cNvPr>
          <p:cNvSpPr txBox="1"/>
          <p:nvPr/>
        </p:nvSpPr>
        <p:spPr>
          <a:xfrm>
            <a:off x="1038225" y="5888511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https://code.tutsplus.com/http-the-protocol-every-web-developer-must-know-part-1--net-31177t</a:t>
            </a:r>
            <a:endParaRPr lang="en-AU" sz="20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50002-C9DD-A225-70F5-EAF07A4A124A}"/>
              </a:ext>
            </a:extLst>
          </p:cNvPr>
          <p:cNvSpPr txBox="1"/>
          <p:nvPr/>
        </p:nvSpPr>
        <p:spPr>
          <a:xfrm>
            <a:off x="6766832" y="2325585"/>
            <a:ext cx="45869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with HTTP 2 &amp; 3 we can run multiple streams of data within one connection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the streams can run in both directions</a:t>
            </a:r>
          </a:p>
        </p:txBody>
      </p:sp>
    </p:spTree>
    <p:extLst>
      <p:ext uri="{BB962C8B-B14F-4D97-AF65-F5344CB8AC3E}">
        <p14:creationId xmlns:p14="http://schemas.microsoft.com/office/powerpoint/2010/main" val="153805855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URI/URL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AU" sz="3500" dirty="0"/>
              <a:t>Uniform Resource Identifier: A generic term for all types of names and addresses.</a:t>
            </a:r>
          </a:p>
          <a:p>
            <a:r>
              <a:rPr lang="en-AU" sz="3500" dirty="0"/>
              <a:t>Uniform Resource Locator: A specific type of URI that includes location information.</a:t>
            </a:r>
          </a:p>
          <a:p>
            <a:r>
              <a:rPr lang="en-AU" sz="3500" dirty="0"/>
              <a:t>Components of a URL: scheme, host, path, query &amp; fragment.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3700" dirty="0"/>
          </a:p>
        </p:txBody>
      </p:sp>
    </p:spTree>
    <p:extLst>
      <p:ext uri="{BB962C8B-B14F-4D97-AF65-F5344CB8AC3E}">
        <p14:creationId xmlns:p14="http://schemas.microsoft.com/office/powerpoint/2010/main" val="116214347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Making a GET HTTP Request to API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077576" cy="3632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3200" dirty="0"/>
              <a:t>Open/Download Postman</a:t>
            </a:r>
          </a:p>
          <a:p>
            <a:r>
              <a:rPr lang="en-AU" sz="3200" dirty="0"/>
              <a:t>Inspect the NASA Api Docs </a:t>
            </a:r>
          </a:p>
          <a:p>
            <a:pPr marL="0" indent="0">
              <a:buNone/>
            </a:pPr>
            <a:r>
              <a:rPr lang="en-AU" sz="32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https://api.nasa.gov/#browseAPI</a:t>
            </a:r>
            <a:endParaRPr lang="en-AU" sz="32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3200" dirty="0"/>
              <a:t>Add your NASA Api key to the following URL query</a:t>
            </a:r>
          </a:p>
          <a:p>
            <a:pPr marL="0" indent="0">
              <a:buNone/>
            </a:pPr>
            <a:r>
              <a:rPr lang="en-AU" sz="32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https://api.nasa.gov/planetary/apod?api_key=API_KEY</a:t>
            </a:r>
            <a:endParaRPr lang="en-AU" sz="3200" dirty="0">
              <a:solidFill>
                <a:schemeClr val="accent1"/>
              </a:solidFill>
            </a:endParaRPr>
          </a:p>
          <a:p>
            <a:r>
              <a:rPr lang="en-AU" sz="3200" dirty="0">
                <a:solidFill>
                  <a:schemeClr val="tx1"/>
                </a:solidFill>
              </a:rPr>
              <a:t>Paste the URL into a </a:t>
            </a:r>
            <a:r>
              <a:rPr lang="en-AU" sz="3200" dirty="0">
                <a:solidFill>
                  <a:schemeClr val="accent3"/>
                </a:solidFill>
              </a:rPr>
              <a:t>GET</a:t>
            </a:r>
            <a:r>
              <a:rPr lang="en-AU" sz="3200" dirty="0">
                <a:solidFill>
                  <a:schemeClr val="tx1"/>
                </a:solidFill>
              </a:rPr>
              <a:t> request in Postman</a:t>
            </a:r>
            <a:endParaRPr lang="en-AU" sz="3500" dirty="0"/>
          </a:p>
          <a:p>
            <a:pPr>
              <a:buFont typeface="Arial" panose="020B0604020202020204" pitchFamily="34" charset="0"/>
              <a:buChar char="•"/>
            </a:pPr>
            <a:endParaRPr lang="en-AU" sz="3700" dirty="0"/>
          </a:p>
        </p:txBody>
      </p:sp>
    </p:spTree>
    <p:extLst>
      <p:ext uri="{BB962C8B-B14F-4D97-AF65-F5344CB8AC3E}">
        <p14:creationId xmlns:p14="http://schemas.microsoft.com/office/powerpoint/2010/main" val="249632278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976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Calling the API</a:t>
            </a:r>
            <a:endParaRPr lang="en-AU" dirty="0"/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4B62DBEA-0AB7-71C2-114A-0CC3A0AD12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05025" y="1338263"/>
            <a:ext cx="7981950" cy="4724011"/>
          </a:xfrm>
        </p:spPr>
      </p:pic>
    </p:spTree>
    <p:extLst>
      <p:ext uri="{BB962C8B-B14F-4D97-AF65-F5344CB8AC3E}">
        <p14:creationId xmlns:p14="http://schemas.microsoft.com/office/powerpoint/2010/main" val="323445571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Constructing the URL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229476" cy="398462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sz="3200" dirty="0"/>
              <a:t>Using the API Docs add the following parameters:</a:t>
            </a:r>
          </a:p>
          <a:p>
            <a:pPr marL="0" indent="0">
              <a:buNone/>
            </a:pPr>
            <a:endParaRPr lang="en-AU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3200" dirty="0" err="1">
                <a:solidFill>
                  <a:schemeClr val="accent1"/>
                </a:solidFill>
              </a:rPr>
              <a:t>start_date</a:t>
            </a:r>
            <a:endParaRPr lang="en-AU" sz="32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3200" dirty="0" err="1">
                <a:solidFill>
                  <a:schemeClr val="accent1"/>
                </a:solidFill>
              </a:rPr>
              <a:t>end_date</a:t>
            </a:r>
            <a:endParaRPr lang="en-AU" sz="32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accent1"/>
                </a:solidFill>
              </a:rPr>
              <a:t>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accent1"/>
                </a:solidFill>
              </a:rPr>
              <a:t>date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Consider the 2-dimensional nature of the data you are receiving in the response.</a:t>
            </a:r>
          </a:p>
        </p:txBody>
      </p:sp>
    </p:spTree>
    <p:extLst>
      <p:ext uri="{BB962C8B-B14F-4D97-AF65-F5344CB8AC3E}">
        <p14:creationId xmlns:p14="http://schemas.microsoft.com/office/powerpoint/2010/main" val="2935949120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976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Adding parameters</a:t>
            </a:r>
            <a:endParaRPr lang="en-AU" dirty="0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417F2F9B-4A39-6192-AE9D-3A123DF394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52649" y="1713368"/>
            <a:ext cx="7077075" cy="3960096"/>
          </a:xfrm>
        </p:spPr>
      </p:pic>
    </p:spTree>
    <p:extLst>
      <p:ext uri="{BB962C8B-B14F-4D97-AF65-F5344CB8AC3E}">
        <p14:creationId xmlns:p14="http://schemas.microsoft.com/office/powerpoint/2010/main" val="350637939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Headers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AU" sz="3500" dirty="0"/>
              <a:t>Headers provide metadata about the </a:t>
            </a:r>
            <a:r>
              <a:rPr lang="en-AU" sz="3500" dirty="0">
                <a:solidFill>
                  <a:schemeClr val="accent3"/>
                </a:solidFill>
              </a:rPr>
              <a:t>request </a:t>
            </a:r>
            <a:r>
              <a:rPr lang="en-AU" sz="3500" dirty="0"/>
              <a:t>or </a:t>
            </a:r>
            <a:r>
              <a:rPr lang="en-AU" sz="3500" dirty="0">
                <a:solidFill>
                  <a:schemeClr val="accent1"/>
                </a:solidFill>
              </a:rPr>
              <a:t>response.</a:t>
            </a:r>
            <a:endParaRPr lang="en-AU" sz="3500" dirty="0"/>
          </a:p>
          <a:p>
            <a:r>
              <a:rPr lang="en-AU" sz="3500" dirty="0"/>
              <a:t>This can include:</a:t>
            </a:r>
          </a:p>
          <a:p>
            <a:pPr lvl="1"/>
            <a:r>
              <a:rPr lang="en-AU" sz="2800" dirty="0"/>
              <a:t>server settings, </a:t>
            </a:r>
          </a:p>
          <a:p>
            <a:pPr lvl="1"/>
            <a:r>
              <a:rPr lang="en-AU" sz="2800" dirty="0"/>
              <a:t>information on usage</a:t>
            </a:r>
          </a:p>
          <a:p>
            <a:pPr lvl="1"/>
            <a:r>
              <a:rPr lang="en-AU" sz="2800" dirty="0"/>
              <a:t>cached/stored data to make content delivery faster</a:t>
            </a:r>
          </a:p>
          <a:p>
            <a:pPr lvl="1"/>
            <a:r>
              <a:rPr lang="en-AU" sz="2800" dirty="0"/>
              <a:t>custom headers to transmit application specific information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3700" dirty="0"/>
          </a:p>
        </p:txBody>
      </p:sp>
    </p:spTree>
    <p:extLst>
      <p:ext uri="{BB962C8B-B14F-4D97-AF65-F5344CB8AC3E}">
        <p14:creationId xmlns:p14="http://schemas.microsoft.com/office/powerpoint/2010/main" val="3787101529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09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Common HTTP Headers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6363"/>
            <a:ext cx="11229975" cy="4351338"/>
          </a:xfrm>
        </p:spPr>
        <p:txBody>
          <a:bodyPr>
            <a:noAutofit/>
          </a:bodyPr>
          <a:lstStyle/>
          <a:p>
            <a:r>
              <a:rPr lang="en-AU" sz="2400" dirty="0"/>
              <a:t>Content-Type : type of the resource or the data being sent to the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>
                <a:solidFill>
                  <a:srgbClr val="FFC000"/>
                </a:solidFill>
              </a:rPr>
              <a:t>Content-Type: application</a:t>
            </a:r>
          </a:p>
          <a:p>
            <a:r>
              <a:rPr lang="en-AU" sz="2400" dirty="0"/>
              <a:t>Authorization: contains the credentials to authenticate a user (e.g. API Key)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>
                <a:solidFill>
                  <a:srgbClr val="FFC000"/>
                </a:solidFill>
              </a:rPr>
              <a:t>Authorization: Bearer &lt;token&gt;</a:t>
            </a:r>
          </a:p>
          <a:p>
            <a:r>
              <a:rPr lang="en-AU" sz="2400" dirty="0"/>
              <a:t>Accept: Lets the server know what types of data the client can process.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>
                <a:solidFill>
                  <a:srgbClr val="FFC000"/>
                </a:solidFill>
              </a:rPr>
              <a:t>Accept: application/</a:t>
            </a:r>
            <a:r>
              <a:rPr lang="en-AU" sz="2400" i="1" dirty="0" err="1">
                <a:solidFill>
                  <a:srgbClr val="FFC000"/>
                </a:solidFill>
              </a:rPr>
              <a:t>json</a:t>
            </a:r>
            <a:endParaRPr lang="en-AU" sz="2400" i="1" dirty="0">
              <a:solidFill>
                <a:srgbClr val="FFC000"/>
              </a:solidFill>
            </a:endParaRPr>
          </a:p>
          <a:p>
            <a:r>
              <a:rPr lang="en-AU" sz="2400" dirty="0"/>
              <a:t>Cache-Control: caching information in requests and response for prompt delivery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>
                <a:solidFill>
                  <a:srgbClr val="FFC000"/>
                </a:solidFill>
              </a:rPr>
              <a:t>Cache-Control: no-cache</a:t>
            </a:r>
          </a:p>
          <a:p>
            <a:r>
              <a:rPr lang="en-AU" sz="2400" dirty="0" err="1"/>
              <a:t>Referer</a:t>
            </a:r>
            <a:r>
              <a:rPr lang="en-AU" sz="2400" dirty="0"/>
              <a:t>: Contains the address of the previous web page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U" sz="2400" i="1" dirty="0" err="1">
                <a:solidFill>
                  <a:srgbClr val="FFC000"/>
                </a:solidFill>
              </a:rPr>
              <a:t>Referer</a:t>
            </a:r>
            <a:r>
              <a:rPr lang="en-AU" sz="2400" i="1" dirty="0">
                <a:solidFill>
                  <a:srgbClr val="FFC000"/>
                </a:solidFill>
              </a:rPr>
              <a:t>: https://example.com</a:t>
            </a:r>
          </a:p>
        </p:txBody>
      </p:sp>
    </p:spTree>
    <p:extLst>
      <p:ext uri="{BB962C8B-B14F-4D97-AF65-F5344CB8AC3E}">
        <p14:creationId xmlns:p14="http://schemas.microsoft.com/office/powerpoint/2010/main" val="1557466619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50874"/>
            <a:ext cx="6172200" cy="676275"/>
          </a:xfrm>
        </p:spPr>
        <p:txBody>
          <a:bodyPr anchor="b">
            <a:normAutofit fontScale="90000"/>
          </a:bodyPr>
          <a:lstStyle/>
          <a:p>
            <a:r>
              <a:rPr lang="en-AU" sz="4400" dirty="0"/>
              <a:t>Request &amp; Responses</a:t>
            </a:r>
          </a:p>
        </p:txBody>
      </p:sp>
      <p:pic>
        <p:nvPicPr>
          <p:cNvPr id="4" name="Picture 3" descr="A screenshot of a test results&#10;&#10;Description automatically generated">
            <a:extLst>
              <a:ext uri="{FF2B5EF4-FFF2-40B4-BE49-F238E27FC236}">
                <a16:creationId xmlns:a16="http://schemas.microsoft.com/office/drawing/2014/main" id="{44F7DB3E-5892-8221-A15B-A95982219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66" y="2171699"/>
            <a:ext cx="5308121" cy="3158331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518443"/>
            <a:ext cx="5659438" cy="3811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/>
              <a:t>Let's looks at two requests in Postman:</a:t>
            </a:r>
            <a:endParaRPr lang="en-AU" sz="2800" i="1" dirty="0"/>
          </a:p>
          <a:p>
            <a:endParaRPr lang="en-AU" sz="2400" i="1" dirty="0"/>
          </a:p>
          <a:p>
            <a:pPr marL="457200" indent="-457200">
              <a:buFont typeface="+mj-lt"/>
              <a:buAutoNum type="arabicPeriod"/>
            </a:pPr>
            <a:r>
              <a:rPr lang="en-AU" sz="2400" i="1" dirty="0">
                <a:solidFill>
                  <a:srgbClr val="FFC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https://api.nasa.gov/planetary/apod</a:t>
            </a:r>
            <a:endParaRPr lang="en-AU" sz="2400" i="1" dirty="0">
              <a:solidFill>
                <a:srgbClr val="FFC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i="1" dirty="0">
                <a:solidFill>
                  <a:srgbClr val="FFC000"/>
                </a:solidFill>
              </a:rPr>
              <a:t>https://blackboard.northmetrotafe.wa.edu.au/</a:t>
            </a:r>
          </a:p>
          <a:p>
            <a:endParaRPr lang="en-AU" sz="2400" i="1" dirty="0"/>
          </a:p>
          <a:p>
            <a:r>
              <a:rPr lang="en-AU" sz="2400" dirty="0">
                <a:solidFill>
                  <a:schemeClr val="accent1"/>
                </a:solidFill>
              </a:rPr>
              <a:t>Review the headers using Postman</a:t>
            </a:r>
            <a:r>
              <a:rPr lang="en-AU" sz="2400" b="1" dirty="0">
                <a:solidFill>
                  <a:schemeClr val="tx1"/>
                </a:solidFill>
              </a:rPr>
              <a:t> </a:t>
            </a:r>
            <a:r>
              <a:rPr lang="en-AU" sz="2400" b="1" dirty="0" err="1">
                <a:solidFill>
                  <a:schemeClr val="tx1"/>
                </a:solidFill>
              </a:rPr>
              <a:t>i</a:t>
            </a:r>
            <a:r>
              <a:rPr lang="en-AU" sz="2400" b="1" dirty="0">
                <a:solidFill>
                  <a:schemeClr val="tx1"/>
                </a:solidFill>
              </a:rPr>
              <a:t> </a:t>
            </a:r>
            <a:r>
              <a:rPr lang="en-AU" sz="2400" dirty="0">
                <a:solidFill>
                  <a:schemeClr val="accent1"/>
                </a:solidFill>
              </a:rPr>
              <a:t>icon</a:t>
            </a:r>
          </a:p>
          <a:p>
            <a:r>
              <a:rPr lang="en-AU" sz="2400" dirty="0">
                <a:solidFill>
                  <a:schemeClr val="accent1"/>
                </a:solidFill>
              </a:rPr>
              <a:t>Can you see the cookies saved in your browser's local storage?</a:t>
            </a:r>
          </a:p>
        </p:txBody>
      </p:sp>
    </p:spTree>
    <p:extLst>
      <p:ext uri="{BB962C8B-B14F-4D97-AF65-F5344CB8AC3E}">
        <p14:creationId xmlns:p14="http://schemas.microsoft.com/office/powerpoint/2010/main" val="325773058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Status Codes</a:t>
            </a:r>
            <a:endParaRPr lang="en-AU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791F07E-110F-AF88-4EC2-A483A5105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376776"/>
            <a:ext cx="4638675" cy="23759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tx1"/>
                </a:solidFill>
              </a:rPr>
              <a:t>Responses provide a:</a:t>
            </a:r>
          </a:p>
          <a:p>
            <a:pPr lvl="1"/>
            <a:r>
              <a:rPr lang="en-AU" sz="2400" dirty="0">
                <a:solidFill>
                  <a:schemeClr val="tx1"/>
                </a:solidFill>
              </a:rPr>
              <a:t>status line with the code</a:t>
            </a:r>
          </a:p>
          <a:p>
            <a:pPr lvl="1"/>
            <a:r>
              <a:rPr lang="en-AU" sz="2400" dirty="0">
                <a:solidFill>
                  <a:schemeClr val="tx1"/>
                </a:solidFill>
              </a:rPr>
              <a:t>headers as we discussed</a:t>
            </a:r>
          </a:p>
          <a:p>
            <a:pPr lvl="1"/>
            <a:r>
              <a:rPr lang="en-AU" sz="2400" dirty="0">
                <a:solidFill>
                  <a:schemeClr val="tx1"/>
                </a:solidFill>
              </a:rPr>
              <a:t>body containing your data/message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1066370-E451-3497-D28A-5BC1EBD19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420" y="2129415"/>
            <a:ext cx="6192449" cy="28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65604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Status Codes Ranges</a:t>
            </a:r>
            <a:endParaRPr lang="en-AU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791F07E-110F-AF88-4EC2-A483A5105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90688"/>
            <a:ext cx="9582150" cy="30236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200" dirty="0">
                <a:solidFill>
                  <a:schemeClr val="tx1"/>
                </a:solidFill>
              </a:rPr>
              <a:t>Status codes indicate the result of the request.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1xx</a:t>
            </a:r>
            <a:r>
              <a:rPr lang="en-AU" sz="2800" dirty="0">
                <a:solidFill>
                  <a:schemeClr val="tx1"/>
                </a:solidFill>
              </a:rPr>
              <a:t> - Informational only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2xx </a:t>
            </a:r>
            <a:r>
              <a:rPr lang="en-AU" sz="2800" dirty="0">
                <a:solidFill>
                  <a:schemeClr val="tx1"/>
                </a:solidFill>
              </a:rPr>
              <a:t>- Successful response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3xx</a:t>
            </a:r>
            <a:r>
              <a:rPr lang="en-AU" sz="2800" dirty="0">
                <a:solidFill>
                  <a:schemeClr val="tx1"/>
                </a:solidFill>
              </a:rPr>
              <a:t> - Redirection to another URI/URL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4xx</a:t>
            </a:r>
            <a:r>
              <a:rPr lang="en-AU" sz="2800" dirty="0">
                <a:solidFill>
                  <a:schemeClr val="tx1"/>
                </a:solidFill>
              </a:rPr>
              <a:t> - Client Errors - front end errors</a:t>
            </a:r>
          </a:p>
          <a:p>
            <a:pPr lvl="1"/>
            <a:r>
              <a:rPr lang="en-AU" sz="2800" dirty="0">
                <a:solidFill>
                  <a:schemeClr val="accent3"/>
                </a:solidFill>
              </a:rPr>
              <a:t>5xx</a:t>
            </a:r>
            <a:r>
              <a:rPr lang="en-AU" sz="2800" dirty="0">
                <a:solidFill>
                  <a:schemeClr val="tx1"/>
                </a:solidFill>
              </a:rPr>
              <a:t> - Server Errors - backend errors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32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B726C-19F0-10B6-EB8A-8D375FEEF1CD}"/>
              </a:ext>
            </a:extLst>
          </p:cNvPr>
          <p:cNvSpPr txBox="1"/>
          <p:nvPr/>
        </p:nvSpPr>
        <p:spPr>
          <a:xfrm>
            <a:off x="1019174" y="5635552"/>
            <a:ext cx="99345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chemeClr val="accent1"/>
                </a:solidFill>
              </a:rPr>
              <a:t>https://developer.mozilla.org/en-US/docs/Web/HTTP/Status</a:t>
            </a:r>
          </a:p>
        </p:txBody>
      </p:sp>
    </p:spTree>
    <p:extLst>
      <p:ext uri="{BB962C8B-B14F-4D97-AF65-F5344CB8AC3E}">
        <p14:creationId xmlns:p14="http://schemas.microsoft.com/office/powerpoint/2010/main" val="1253211923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09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dirty="0"/>
              <a:t>Request &amp;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376363"/>
            <a:ext cx="7077074" cy="48053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/>
              <a:t>There are several different methods however the most common relate to CRUD activities</a:t>
            </a:r>
          </a:p>
          <a:p>
            <a:pPr marL="0" indent="0">
              <a:buNone/>
            </a:pPr>
            <a:endParaRPr lang="en-AU" sz="2800" i="1" dirty="0">
              <a:solidFill>
                <a:srgbClr val="FFC000"/>
              </a:solidFill>
            </a:endParaRPr>
          </a:p>
          <a:p>
            <a:r>
              <a:rPr lang="en-AU" sz="2600" b="1" i="1" dirty="0">
                <a:solidFill>
                  <a:schemeClr val="accent3"/>
                </a:solidFill>
              </a:rPr>
              <a:t>GET</a:t>
            </a:r>
            <a:r>
              <a:rPr lang="en-AU" sz="2600" i="1" dirty="0">
                <a:solidFill>
                  <a:schemeClr val="accent1"/>
                </a:solidFill>
              </a:rPr>
              <a:t>: Retrieve data.</a:t>
            </a:r>
          </a:p>
          <a:p>
            <a:r>
              <a:rPr lang="en-AU" sz="2600" b="1" i="1" dirty="0">
                <a:solidFill>
                  <a:schemeClr val="accent3"/>
                </a:solidFill>
              </a:rPr>
              <a:t>POST</a:t>
            </a:r>
            <a:r>
              <a:rPr lang="en-AU" sz="2600" i="1" dirty="0">
                <a:solidFill>
                  <a:schemeClr val="accent1"/>
                </a:solidFill>
              </a:rPr>
              <a:t>: Send data to the server.</a:t>
            </a:r>
          </a:p>
          <a:p>
            <a:r>
              <a:rPr lang="en-AU" sz="2600" b="1" i="1" dirty="0">
                <a:solidFill>
                  <a:schemeClr val="accent3"/>
                </a:solidFill>
              </a:rPr>
              <a:t>PUT</a:t>
            </a:r>
            <a:r>
              <a:rPr lang="en-AU" sz="2600" i="1" dirty="0">
                <a:solidFill>
                  <a:schemeClr val="accent1"/>
                </a:solidFill>
              </a:rPr>
              <a:t>: Update existing data.</a:t>
            </a:r>
          </a:p>
          <a:p>
            <a:r>
              <a:rPr lang="en-AU" sz="2600" b="1" i="1" dirty="0">
                <a:solidFill>
                  <a:schemeClr val="accent3"/>
                </a:solidFill>
              </a:rPr>
              <a:t>DELETE</a:t>
            </a:r>
            <a:r>
              <a:rPr lang="en-AU" sz="2600" i="1" dirty="0">
                <a:solidFill>
                  <a:schemeClr val="accent1"/>
                </a:solidFill>
              </a:rPr>
              <a:t>: Remove data.</a:t>
            </a:r>
          </a:p>
          <a:p>
            <a:endParaRPr lang="en-AU" sz="2800" i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AU" sz="2800" dirty="0">
                <a:solidFill>
                  <a:schemeClr val="tx1"/>
                </a:solidFill>
              </a:rPr>
              <a:t>This how we manipulate data in databases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5E2C8DE-68F6-F577-66EF-D05663CF3297}"/>
              </a:ext>
            </a:extLst>
          </p:cNvPr>
          <p:cNvSpPr txBox="1">
            <a:spLocks/>
          </p:cNvSpPr>
          <p:nvPr/>
        </p:nvSpPr>
        <p:spPr>
          <a:xfrm>
            <a:off x="8153401" y="1644055"/>
            <a:ext cx="3476624" cy="3569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5400" dirty="0">
                <a:solidFill>
                  <a:schemeClr val="accent1"/>
                </a:solidFill>
              </a:rPr>
              <a:t>C</a:t>
            </a:r>
            <a:r>
              <a:rPr lang="en-AU" sz="5400" dirty="0">
                <a:solidFill>
                  <a:schemeClr val="tx1"/>
                </a:solidFill>
              </a:rPr>
              <a:t>REATE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5400" dirty="0">
                <a:solidFill>
                  <a:schemeClr val="accent1"/>
                </a:solidFill>
              </a:rPr>
              <a:t>R</a:t>
            </a:r>
            <a:r>
              <a:rPr lang="en-AU" sz="5400" dirty="0">
                <a:solidFill>
                  <a:schemeClr val="tx1"/>
                </a:solidFill>
              </a:rPr>
              <a:t>EAD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5400" dirty="0">
                <a:solidFill>
                  <a:schemeClr val="accent1"/>
                </a:solidFill>
              </a:rPr>
              <a:t>U</a:t>
            </a:r>
            <a:r>
              <a:rPr lang="en-AU" sz="5400" dirty="0">
                <a:solidFill>
                  <a:schemeClr val="tx1"/>
                </a:solidFill>
              </a:rPr>
              <a:t>PDATE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5400" dirty="0">
                <a:solidFill>
                  <a:schemeClr val="accent1"/>
                </a:solidFill>
              </a:rPr>
              <a:t>D</a:t>
            </a:r>
            <a:r>
              <a:rPr lang="en-AU" sz="5400" dirty="0">
                <a:solidFill>
                  <a:schemeClr val="tx1"/>
                </a:solidFill>
              </a:rPr>
              <a:t>ELETE</a:t>
            </a:r>
          </a:p>
        </p:txBody>
      </p:sp>
    </p:spTree>
    <p:extLst>
      <p:ext uri="{BB962C8B-B14F-4D97-AF65-F5344CB8AC3E}">
        <p14:creationId xmlns:p14="http://schemas.microsoft.com/office/powerpoint/2010/main" val="1849001126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09"/>
            <a:ext cx="5355771" cy="921254"/>
          </a:xfrm>
        </p:spPr>
        <p:txBody>
          <a:bodyPr anchor="ctr">
            <a:normAutofit/>
          </a:bodyPr>
          <a:lstStyle/>
          <a:p>
            <a:r>
              <a:rPr lang="en-AU" dirty="0"/>
              <a:t>Testing HTTP 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1550" y="1738991"/>
            <a:ext cx="5929993" cy="4663899"/>
          </a:xfrm>
        </p:spPr>
        <p:txBody>
          <a:bodyPr>
            <a:noAutofit/>
          </a:bodyPr>
          <a:lstStyle/>
          <a:p>
            <a:r>
              <a:rPr lang="en-AU" sz="2800" dirty="0"/>
              <a:t>Import the API collection &amp; environment into Postman</a:t>
            </a:r>
          </a:p>
          <a:p>
            <a:r>
              <a:rPr lang="en-AU" sz="2800" dirty="0"/>
              <a:t>Find the official Postman Documentation</a:t>
            </a:r>
          </a:p>
          <a:p>
            <a:r>
              <a:rPr lang="en-AU" sz="2800" dirty="0"/>
              <a:t>Try the </a:t>
            </a:r>
            <a:r>
              <a:rPr lang="en-AU" sz="2800" dirty="0">
                <a:solidFill>
                  <a:schemeClr val="accent3"/>
                </a:solidFill>
              </a:rPr>
              <a:t>/auth/login </a:t>
            </a:r>
            <a:r>
              <a:rPr lang="en-AU" sz="2800" dirty="0"/>
              <a:t>request</a:t>
            </a:r>
          </a:p>
          <a:p>
            <a:r>
              <a:rPr lang="en-AU" sz="2800" dirty="0"/>
              <a:t>Place your logins in the JSON body of the </a:t>
            </a:r>
            <a:r>
              <a:rPr lang="en-AU" sz="2800" dirty="0">
                <a:solidFill>
                  <a:schemeClr val="accent3"/>
                </a:solidFill>
              </a:rPr>
              <a:t>POST</a:t>
            </a:r>
            <a:r>
              <a:rPr lang="en-AU" sz="2800" dirty="0"/>
              <a:t> request</a:t>
            </a:r>
          </a:p>
          <a:p>
            <a:r>
              <a:rPr lang="en-AU" sz="2800" dirty="0"/>
              <a:t>Notice how the server returned the successful request information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5E2C8DE-68F6-F577-66EF-D05663CF3297}"/>
              </a:ext>
            </a:extLst>
          </p:cNvPr>
          <p:cNvSpPr txBox="1">
            <a:spLocks/>
          </p:cNvSpPr>
          <p:nvPr/>
        </p:nvSpPr>
        <p:spPr>
          <a:xfrm>
            <a:off x="8153401" y="1644055"/>
            <a:ext cx="3476624" cy="3569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5400" dirty="0">
              <a:solidFill>
                <a:schemeClr val="tx1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361155-91C8-ADF5-02F5-B2FE079EF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804" y="3019485"/>
            <a:ext cx="4630221" cy="3228603"/>
          </a:xfrm>
          <a:prstGeom prst="rect">
            <a:avLst/>
          </a:prstGeom>
        </p:spPr>
      </p:pic>
      <p:pic>
        <p:nvPicPr>
          <p:cNvPr id="9" name="Picture 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B1C25BB-E217-A228-51AA-95113A41F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804" y="1151788"/>
            <a:ext cx="463022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19433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FA86E-CBE8-7CB1-313B-42B477D1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B22B-D9E2-292D-E31E-29C909B1E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09"/>
            <a:ext cx="5355771" cy="921254"/>
          </a:xfrm>
        </p:spPr>
        <p:txBody>
          <a:bodyPr anchor="ctr">
            <a:normAutofit/>
          </a:bodyPr>
          <a:lstStyle/>
          <a:p>
            <a:r>
              <a:rPr lang="en-AU" dirty="0"/>
              <a:t>Working with our API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1EBF3DF-DDA5-3C48-833D-390302DDAF80}"/>
              </a:ext>
            </a:extLst>
          </p:cNvPr>
          <p:cNvSpPr txBox="1">
            <a:spLocks/>
          </p:cNvSpPr>
          <p:nvPr/>
        </p:nvSpPr>
        <p:spPr>
          <a:xfrm>
            <a:off x="8153401" y="1644055"/>
            <a:ext cx="3476624" cy="3569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5400" dirty="0">
              <a:solidFill>
                <a:schemeClr val="tx1"/>
              </a:solidFill>
            </a:endParaRP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B8369C-1600-9EEB-B135-1DE3031DBC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69275" y="1376363"/>
            <a:ext cx="5416697" cy="2488589"/>
          </a:xfrm>
        </p:spPr>
      </p:pic>
      <p:pic>
        <p:nvPicPr>
          <p:cNvPr id="11" name="Picture 1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1D37B2D-0ADB-EB5A-8DF5-DBFA0AB68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563" y="4124691"/>
            <a:ext cx="5402410" cy="1959116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E9C389-DECD-F595-DDE6-EFCA35421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72" y="1515248"/>
            <a:ext cx="5730299" cy="429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21639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09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dirty="0"/>
              <a:t>Testing HTTP Status Codes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7529"/>
            <a:ext cx="9477375" cy="39229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/>
              <a:t>Once you have your authentication token, go to the Projects routes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Add a parameter when listing Projects with the API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Add an incorrect authentication token key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Make a call to a Project route that doesn’t exist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Add an incorrectly form JSON to POST or PUT requests in the Project routes.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Remove some/all headers from a request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5E2C8DE-68F6-F577-66EF-D05663CF3297}"/>
              </a:ext>
            </a:extLst>
          </p:cNvPr>
          <p:cNvSpPr txBox="1">
            <a:spLocks/>
          </p:cNvSpPr>
          <p:nvPr/>
        </p:nvSpPr>
        <p:spPr>
          <a:xfrm>
            <a:off x="8153401" y="1644055"/>
            <a:ext cx="3476624" cy="3569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000237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Decoupled Web Applications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865377"/>
            <a:ext cx="5848350" cy="3435291"/>
          </a:xfrm>
        </p:spPr>
        <p:txBody>
          <a:bodyPr>
            <a:normAutofit fontScale="77500" lnSpcReduction="20000"/>
          </a:bodyPr>
          <a:lstStyle/>
          <a:p>
            <a:r>
              <a:rPr lang="en-AU" sz="3600" dirty="0"/>
              <a:t>Well-designed APIs include endpoints(routes to the data) </a:t>
            </a:r>
          </a:p>
          <a:p>
            <a:r>
              <a:rPr lang="en-AU" sz="3600" dirty="0"/>
              <a:t>Secure Authentication methods like OAuth, API keys are used to protect API endpoints.</a:t>
            </a:r>
          </a:p>
          <a:p>
            <a:r>
              <a:rPr lang="en-AU" sz="3600" dirty="0"/>
              <a:t>Proper handling of HTTP response statuses and errors for the user.</a:t>
            </a:r>
          </a:p>
          <a:p>
            <a:r>
              <a:rPr lang="en-AU" sz="3600" dirty="0"/>
              <a:t>Caching strategies to reduce server load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791F07E-110F-AF88-4EC2-A483A5105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5476369"/>
            <a:ext cx="5627248" cy="776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// Our API endpoint</a:t>
            </a:r>
            <a:endParaRPr lang="en-A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000" b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https://api.nasa.gov/planetary/apod</a:t>
            </a:r>
            <a:endParaRPr lang="en-AU" sz="2000" b="1" dirty="0">
              <a:solidFill>
                <a:schemeClr val="accent3"/>
              </a:solidFill>
            </a:endParaRPr>
          </a:p>
        </p:txBody>
      </p:sp>
      <p:pic>
        <p:nvPicPr>
          <p:cNvPr id="4" name="Picture 3" descr="A red and white shield with a letter&#10;&#10;Description automatically generated">
            <a:extLst>
              <a:ext uri="{FF2B5EF4-FFF2-40B4-BE49-F238E27FC236}">
                <a16:creationId xmlns:a16="http://schemas.microsoft.com/office/drawing/2014/main" id="{3FB93CCB-293E-4DFB-B588-AA790C7ED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099" y="3664725"/>
            <a:ext cx="2286000" cy="2409825"/>
          </a:xfrm>
          <a:prstGeom prst="rect">
            <a:avLst/>
          </a:prstGeom>
        </p:spPr>
      </p:pic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5E6640A3-A163-AE63-B90B-0EF0F7550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187" y="3758724"/>
            <a:ext cx="1838325" cy="2228850"/>
          </a:xfrm>
          <a:prstGeom prst="rect">
            <a:avLst/>
          </a:prstGeom>
        </p:spPr>
      </p:pic>
      <p:pic>
        <p:nvPicPr>
          <p:cNvPr id="9" name="Picture 8" descr="A logo with text and a letter v&#10;&#10;Description automatically generated">
            <a:extLst>
              <a:ext uri="{FF2B5EF4-FFF2-40B4-BE49-F238E27FC236}">
                <a16:creationId xmlns:a16="http://schemas.microsoft.com/office/drawing/2014/main" id="{428E0CBB-4C84-2025-3745-E10F22430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699" y="1230061"/>
            <a:ext cx="31051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81972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88" y="791013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Authentication in Web Applications</a:t>
            </a:r>
            <a:endParaRPr lang="en-AU" dirty="0"/>
          </a:p>
        </p:txBody>
      </p:sp>
      <p:pic>
        <p:nvPicPr>
          <p:cNvPr id="12" name="Content Placeholder 11" descr="A screen shot of a computer&#10;&#10;Description automatically generated">
            <a:extLst>
              <a:ext uri="{FF2B5EF4-FFF2-40B4-BE49-F238E27FC236}">
                <a16:creationId xmlns:a16="http://schemas.microsoft.com/office/drawing/2014/main" id="{5D59504F-E729-6EAE-7DB4-14F2E177E1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98407" y="2649553"/>
            <a:ext cx="4433714" cy="3049698"/>
          </a:xfrm>
        </p:spPr>
      </p:pic>
      <p:pic>
        <p:nvPicPr>
          <p:cNvPr id="6" name="Content Placeholder 5" descr="A diagram of a software flow&#10;&#10;Description automatically generated">
            <a:extLst>
              <a:ext uri="{FF2B5EF4-FFF2-40B4-BE49-F238E27FC236}">
                <a16:creationId xmlns:a16="http://schemas.microsoft.com/office/drawing/2014/main" id="{E926ACA1-E9BC-F5A0-4205-CAC4C91207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13050" y="2649553"/>
            <a:ext cx="5112226" cy="304969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CEFFE4-7178-D95F-18EF-9646E0343A36}"/>
              </a:ext>
            </a:extLst>
          </p:cNvPr>
          <p:cNvSpPr txBox="1"/>
          <p:nvPr/>
        </p:nvSpPr>
        <p:spPr>
          <a:xfrm>
            <a:off x="687188" y="6045927"/>
            <a:ext cx="55639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https://securityboulevard.com/2021/04/common-rest-api-authentication-methods-explained/</a:t>
            </a:r>
            <a:endParaRPr lang="en-AU" sz="11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AA4F8-84D8-E02B-2EC7-0DFE777BA66D}"/>
              </a:ext>
            </a:extLst>
          </p:cNvPr>
          <p:cNvSpPr txBox="1"/>
          <p:nvPr/>
        </p:nvSpPr>
        <p:spPr>
          <a:xfrm>
            <a:off x="2726213" y="1996244"/>
            <a:ext cx="148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O-Auth 2.0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B4E5B8-FEF3-D2FE-9669-0ED7D901D7C1}"/>
              </a:ext>
            </a:extLst>
          </p:cNvPr>
          <p:cNvSpPr txBox="1"/>
          <p:nvPr/>
        </p:nvSpPr>
        <p:spPr>
          <a:xfrm>
            <a:off x="8099128" y="6045927"/>
            <a:ext cx="167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200" dirty="0">
                <a:solidFill>
                  <a:schemeClr val="accent1"/>
                </a:solidFill>
              </a:rPr>
              <a:t>https://morioh.com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C43CF-BB3F-0FB4-C059-1FA64AF2B8C2}"/>
              </a:ext>
            </a:extLst>
          </p:cNvPr>
          <p:cNvSpPr txBox="1"/>
          <p:nvPr/>
        </p:nvSpPr>
        <p:spPr>
          <a:xfrm>
            <a:off x="8194378" y="1996244"/>
            <a:ext cx="148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dirty="0"/>
              <a:t>JWT</a:t>
            </a:r>
          </a:p>
        </p:txBody>
      </p:sp>
    </p:spTree>
    <p:extLst>
      <p:ext uri="{BB962C8B-B14F-4D97-AF65-F5344CB8AC3E}">
        <p14:creationId xmlns:p14="http://schemas.microsoft.com/office/powerpoint/2010/main" val="1996356439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b="1" dirty="0"/>
              <a:t>HTTP in Web Applications</a:t>
            </a:r>
            <a:endParaRPr lang="en-AU" dirty="0"/>
          </a:p>
        </p:txBody>
      </p:sp>
      <p:pic>
        <p:nvPicPr>
          <p:cNvPr id="11" name="Content Placeholder 10" descr="A diagram of a server&#10;&#10;Description automatically generated">
            <a:extLst>
              <a:ext uri="{FF2B5EF4-FFF2-40B4-BE49-F238E27FC236}">
                <a16:creationId xmlns:a16="http://schemas.microsoft.com/office/drawing/2014/main" id="{DA71FD04-D9EE-BC20-4059-AF9B89A46A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81074" y="2020150"/>
            <a:ext cx="5181600" cy="4104548"/>
          </a:xfr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D4859CE-551C-7BBE-2FB4-D9799CA20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3174" y="2030755"/>
            <a:ext cx="5724526" cy="38217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Our font end code will need to:</a:t>
            </a:r>
          </a:p>
          <a:p>
            <a:r>
              <a:rPr lang="en-AU" sz="2600" dirty="0"/>
              <a:t>authenticate using HTTP</a:t>
            </a:r>
          </a:p>
          <a:p>
            <a:r>
              <a:rPr lang="en-AU" sz="2600" dirty="0"/>
              <a:t>handle errors using HTTP codes/response bodies</a:t>
            </a:r>
          </a:p>
          <a:p>
            <a:r>
              <a:rPr lang="en-AU" sz="2600" dirty="0"/>
              <a:t>handle all status codes gracefully</a:t>
            </a:r>
          </a:p>
          <a:p>
            <a:r>
              <a:rPr lang="en-AU" sz="2600" dirty="0"/>
              <a:t>be able to deal with changing complex objects</a:t>
            </a:r>
          </a:p>
          <a:p>
            <a:r>
              <a:rPr lang="en-AU" sz="2600" dirty="0"/>
              <a:t>effectively cache(save) information to provide better user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C2D210-65DA-F2D1-C13D-ED3C57DA1DE5}"/>
              </a:ext>
            </a:extLst>
          </p:cNvPr>
          <p:cNvSpPr txBox="1"/>
          <p:nvPr/>
        </p:nvSpPr>
        <p:spPr>
          <a:xfrm>
            <a:off x="981074" y="6192550"/>
            <a:ext cx="50482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>
                <a:solidFill>
                  <a:schemeClr val="accent1"/>
                </a:solidFill>
              </a:rPr>
              <a:t>https://www.dotnettricks.com/images/course/mean-stack-project-architecture.png</a:t>
            </a:r>
          </a:p>
        </p:txBody>
      </p:sp>
    </p:spTree>
    <p:extLst>
      <p:ext uri="{BB962C8B-B14F-4D97-AF65-F5344CB8AC3E}">
        <p14:creationId xmlns:p14="http://schemas.microsoft.com/office/powerpoint/2010/main" val="1882069939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715600" cy="2852737"/>
          </a:xfrm>
        </p:spPr>
        <p:txBody>
          <a:bodyPr/>
          <a:lstStyle/>
          <a:p>
            <a:r>
              <a:rPr lang="en-AU" dirty="0">
                <a:latin typeface="Calibri(Headings)"/>
              </a:rPr>
              <a:t>Challenges</a:t>
            </a:r>
            <a:br>
              <a:rPr lang="en-AU" dirty="0">
                <a:latin typeface="Calibri(Headings)"/>
              </a:rPr>
            </a:br>
            <a:r>
              <a:rPr lang="en-AU" sz="4000" dirty="0">
                <a:latin typeface="Calibri(Headings)"/>
              </a:rPr>
              <a:t>Using the NASA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B474AA-3961-E766-97DC-7EEBFC35A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7450" y="428965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224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526" y="1732976"/>
            <a:ext cx="10096500" cy="2953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Challenge 1</a:t>
            </a:r>
            <a:endParaRPr lang="en-AU" sz="2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1. check all the form fields to see which fields have data</a:t>
            </a:r>
            <a:endParaRPr lang="en-AU" sz="2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2. add them to the </a:t>
            </a:r>
            <a:r>
              <a:rPr lang="en-AU" sz="2200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apiURL</a:t>
            </a: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as parameters</a:t>
            </a:r>
            <a:endParaRPr lang="en-AU" sz="2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3. test the responses in the Network tab of your browser so they all have a status of 200</a:t>
            </a:r>
            <a:endParaRPr lang="en-AU" sz="2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AU" sz="2800" dirty="0">
              <a:solidFill>
                <a:srgbClr val="6A9955"/>
              </a:solidFill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Hint: use </a:t>
            </a:r>
            <a:r>
              <a:rPr lang="en-AU" sz="2200" dirty="0">
                <a:solidFill>
                  <a:srgbClr val="6A9955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concatenation</a:t>
            </a:r>
            <a:endParaRPr lang="en-AU" sz="2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41400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526" y="1732976"/>
            <a:ext cx="10096500" cy="2953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Challenge 2</a:t>
            </a: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1. add the following headers to your API call content type, user agent &amp; cache control</a:t>
            </a: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2. set the cache control no cache</a:t>
            </a: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3. set the content type application/</a:t>
            </a:r>
            <a:r>
              <a:rPr lang="en-AU" sz="2200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json</a:t>
            </a:r>
            <a:endParaRPr lang="en-AU" sz="2200" b="0" dirty="0">
              <a:solidFill>
                <a:srgbClr val="6A9955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4. Test the responses in the Network tab of your browser so they all have a status of 200</a:t>
            </a:r>
            <a:endParaRPr lang="en-AU" sz="2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48948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526" y="1732976"/>
            <a:ext cx="10096500" cy="2953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Challenge 3</a:t>
            </a: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1. change the anonymous arrow function below to check if the response code is 200(ok)</a:t>
            </a: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2. if the response is ok return the </a:t>
            </a:r>
            <a:r>
              <a:rPr lang="en-AU" sz="2200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response.json</a:t>
            </a: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 object</a:t>
            </a: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3. if not ok throw a new error which includes the status code</a:t>
            </a: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4. Test the responses in the Network tab</a:t>
            </a:r>
            <a:endParaRPr lang="en-AU" sz="2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54187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1526" y="1732976"/>
            <a:ext cx="10096500" cy="2953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Challenge 4</a:t>
            </a:r>
          </a:p>
          <a:p>
            <a:pPr marL="0" indent="0">
              <a:buNone/>
            </a:pP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1.The code insert the data into the </a:t>
            </a:r>
            <a:r>
              <a:rPr lang="en-AU" sz="2200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innerHTML</a:t>
            </a: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but the code is repeated</a:t>
            </a:r>
          </a:p>
          <a:p>
            <a:pPr marL="0" indent="0">
              <a:buNone/>
            </a:pPr>
            <a:r>
              <a:rPr lang="en-AU" sz="2200" dirty="0">
                <a:solidFill>
                  <a:srgbClr val="6A9955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2.</a:t>
            </a:r>
            <a:r>
              <a:rPr lang="en-AU" sz="2200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Move the if/else if/else into a re-usable function ready for modularisation</a:t>
            </a:r>
            <a:endParaRPr lang="en-AU" sz="2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62339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(Headings)"/>
              </a:rPr>
              <a:t>Work on Assessment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B474AA-3961-E766-97DC-7EEBFC35A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7450" y="428965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9488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9B867-F86C-9F53-2C09-210C6FDE683C}"/>
              </a:ext>
            </a:extLst>
          </p:cNvPr>
          <p:cNvSpPr txBox="1"/>
          <p:nvPr/>
        </p:nvSpPr>
        <p:spPr>
          <a:xfrm>
            <a:off x="1" y="1272618"/>
            <a:ext cx="12191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263748986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1174</TotalTime>
  <Words>1237</Words>
  <Application>Microsoft Office PowerPoint</Application>
  <PresentationFormat>Widescreen</PresentationFormat>
  <Paragraphs>182</Paragraphs>
  <Slides>30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30</vt:i4>
      </vt:variant>
    </vt:vector>
  </HeadingPairs>
  <TitlesOfParts>
    <vt:vector size="51" baseType="lpstr">
      <vt:lpstr>Arial</vt:lpstr>
      <vt:lpstr>Calibri</vt:lpstr>
      <vt:lpstr>Calibri Light</vt:lpstr>
      <vt:lpstr>Calibri(Headings)</vt:lpstr>
      <vt:lpstr>Consolas</vt:lpstr>
      <vt:lpstr>Fira Code</vt:lpstr>
      <vt:lpstr>Wingdings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 Diploma Web Application Development: Introduction</vt:lpstr>
      <vt:lpstr>PowerPoint Presentation</vt:lpstr>
      <vt:lpstr>Activity 1 – Set up Postman</vt:lpstr>
      <vt:lpstr>The NASA API</vt:lpstr>
      <vt:lpstr>What is HTTP</vt:lpstr>
      <vt:lpstr>HTTP 1 vs 2</vt:lpstr>
      <vt:lpstr>URI/URL</vt:lpstr>
      <vt:lpstr>Making a GET HTTP Request to API</vt:lpstr>
      <vt:lpstr>Calling the API</vt:lpstr>
      <vt:lpstr>Constructing the URL</vt:lpstr>
      <vt:lpstr>Adding parameters</vt:lpstr>
      <vt:lpstr>Headers</vt:lpstr>
      <vt:lpstr>Common HTTP Headers</vt:lpstr>
      <vt:lpstr>Request &amp; Responses</vt:lpstr>
      <vt:lpstr>Status Codes</vt:lpstr>
      <vt:lpstr>Status Codes Ranges</vt:lpstr>
      <vt:lpstr>Request &amp; Methods</vt:lpstr>
      <vt:lpstr>Testing HTTP Methods</vt:lpstr>
      <vt:lpstr>Working with our API</vt:lpstr>
      <vt:lpstr>Testing HTTP Status Codes</vt:lpstr>
      <vt:lpstr>Decoupled Web Applications</vt:lpstr>
      <vt:lpstr>Authentication in Web Applications</vt:lpstr>
      <vt:lpstr>HTTP in Web Applications</vt:lpstr>
      <vt:lpstr>Challenges Using the NASA API</vt:lpstr>
      <vt:lpstr>PowerPoint Presentation</vt:lpstr>
      <vt:lpstr>PowerPoint Presentation</vt:lpstr>
      <vt:lpstr>PowerPoint Presentation</vt:lpstr>
      <vt:lpstr>PowerPoint Presentation</vt:lpstr>
      <vt:lpstr>Work on Assessment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John Robertson</cp:lastModifiedBy>
  <cp:revision>29</cp:revision>
  <dcterms:created xsi:type="dcterms:W3CDTF">2023-07-07T02:00:43Z</dcterms:created>
  <dcterms:modified xsi:type="dcterms:W3CDTF">2026-02-24T02:19:59Z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</Properties>
</file>